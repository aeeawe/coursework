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2738"/>
    <a:srgbClr val="FCC40A"/>
    <a:srgbClr val="1516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1914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2CD35C-A3F9-4C44-B8F9-C7EC0BC18EF2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6E758A-19E4-4D53-88DD-E549461269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578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E758A-19E4-4D53-88DD-E5494612694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6061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E758A-19E4-4D53-88DD-E5494612694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29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E758A-19E4-4D53-88DD-E5494612694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933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E758A-19E4-4D53-88DD-E5494612694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982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E758A-19E4-4D53-88DD-E5494612694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468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E758A-19E4-4D53-88DD-E5494612694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717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E758A-19E4-4D53-88DD-E5494612694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298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E758A-19E4-4D53-88DD-E5494612694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4083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E758A-19E4-4D53-88DD-E5494612694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020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E758A-19E4-4D53-88DD-E5494612694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267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06F948-C3F4-3365-C2BA-16AD095CB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0794266-BC3B-C20C-F74C-3C8EE209F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155CC5-1AB4-1E7F-0547-9C5E0F71A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E3CE-0D97-4BCD-8105-73E971EB93DF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7B415B-2DCA-5414-2D38-AF5326F7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EEBC48-AFD4-F517-AFC5-CD6FEDF11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EEAC-2066-4C35-B0DF-65DFA28B61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970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93CEAD-D783-F93E-460E-8F82556D9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417D39-3428-24E0-EECC-35E9AC77F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9FEB69-9946-98FF-2864-CC7323393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E3CE-0D97-4BCD-8105-73E971EB93DF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634903-3872-C7E9-3581-97A2C45CA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AEA873-788A-A3C1-CD68-E4A7033C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EEAC-2066-4C35-B0DF-65DFA28B61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518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A863BB-1F50-FE37-AB4F-791531DC2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EA8CD5-F4B8-20A4-86B8-9F78ACA0F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68B686-07E2-A490-8285-6A34EA36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E3CE-0D97-4BCD-8105-73E971EB93DF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196592-0F99-4B05-94BF-A485E08BE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BB94A6-B9AA-146F-367E-084D82F8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EEAC-2066-4C35-B0DF-65DFA28B61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334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248940-F072-87D9-5705-BFE907FE1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B6ABA2-9A5F-B18C-033C-3A54FE1EE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950D3C-4AE7-0CDE-4F35-1E1950B3B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1DE559-FB8D-9B96-CDD0-E9CBA2CF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E3CE-0D97-4BCD-8105-73E971EB93DF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DEB5BA-4EB9-A250-336A-75F2EC10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431D7B-8492-6DC5-28B6-2C876215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EEAC-2066-4C35-B0DF-65DFA28B61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418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16476-F706-8E34-3FC6-D329892B7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765CC1-C8A6-EFC6-7A43-94950E24B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D4C11EC-4366-6A93-62AB-9CB7D67F3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CADDD1-2267-F0CF-605E-4A40A29C2E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E45C21C-630F-E04D-E5D8-6C0A70419C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7CF6036-9CCC-BB5F-A412-10D5413E8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E3CE-0D97-4BCD-8105-73E971EB93DF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A580108-7C3B-B912-3BC1-E21FB00ED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C3148BA-73F9-ED99-2EF6-0ECA8D42B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EEAC-2066-4C35-B0DF-65DFA28B61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465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7F9F47-E82C-97E0-4DF1-B973F11E7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215E3A7-8DFE-F5AB-9724-B3FC3E7A4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E3CE-0D97-4BCD-8105-73E971EB93DF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65EB06A-AD51-C96C-957D-938698016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EBB6706-F8B7-F87C-215B-6322D0A4D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EEAC-2066-4C35-B0DF-65DFA28B61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327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22B18E-6FE4-E648-36B2-9D23746F5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E3CE-0D97-4BCD-8105-73E971EB93DF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3305734-A22B-D859-F154-996EEB492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EB43CA-AF7F-4490-60AE-E2123BD5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EEAC-2066-4C35-B0DF-65DFA28B61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73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750E8A-7C73-3B50-FB12-CB5C0AD5D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1CBF1D-4FB1-B1F0-3732-130068628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1F0FF0-576A-AAF2-0DBC-047F3B74F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748631-AA90-CD43-AB8E-3531D4587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E3CE-0D97-4BCD-8105-73E971EB93DF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BE02D0-21D7-0B96-AFAE-90DC89783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6F2060-F85C-DAFD-F5AD-39E7D42AB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EEAC-2066-4C35-B0DF-65DFA28B61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660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D02A11-195A-B49A-DEE7-9B9D7E9A8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550F08C-0A9C-5399-8E2A-9CA6568467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38B2F8-7BA3-E05A-FA14-5CF30182A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8B5E31-CC5D-A516-399D-A62983250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E3CE-0D97-4BCD-8105-73E971EB93DF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A2F6B9-4866-F21D-4D74-98C7A0A52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244624-388A-2ED3-C67F-5498B1A7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EEAC-2066-4C35-B0DF-65DFA28B61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961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0ED74C-C054-0765-0AC9-E92EB22AC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2E6B8A-DB13-6C3E-84D7-582C7E60B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718149-542E-FD79-D5E2-FD1FF744F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E3CE-0D97-4BCD-8105-73E971EB93DF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49719A-B83E-03E3-417E-F427F9E84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4EECCD-93F8-9FD1-6906-1419AA426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EEAC-2066-4C35-B0DF-65DFA28B61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90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731825B-0872-D4BB-114F-8676A2929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6534C40-7664-3504-6F3B-52E89ED8B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56544D-4A52-CF8A-DFD1-FBB0059F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E3CE-0D97-4BCD-8105-73E971EB93DF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4CF51C-3693-81E8-7CB3-026D2BF6C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E1887C-FEDB-3ED2-2FB7-FB306BEF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EEAC-2066-4C35-B0DF-65DFA28B61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489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A0BE4E-86D5-3850-44BA-B6AAA8737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07D44E-84F3-DD7F-544A-2D826D5DE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6E4603-76A2-C6E0-D2DF-1FC1CDE69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F6E3CE-0D97-4BCD-8105-73E971EB93DF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307529-8DFD-960B-F6CF-FAF0625B51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988480-CD82-2E98-15CC-9289BF338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F0EEAC-2066-4C35-B0DF-65DFA28B61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74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A0D10D-FF57-D1CF-5BEA-D8EFB1DC4A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6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344E422-B799-8875-AEAB-CCF814CA1F26}"/>
              </a:ext>
            </a:extLst>
          </p:cNvPr>
          <p:cNvSpPr/>
          <p:nvPr/>
        </p:nvSpPr>
        <p:spPr>
          <a:xfrm>
            <a:off x="935736" y="848551"/>
            <a:ext cx="10320528" cy="2935224"/>
          </a:xfrm>
          <a:prstGeom prst="roundRect">
            <a:avLst>
              <a:gd name="adj" fmla="val 12617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3338B-BF80-1C42-B76C-63D7FE045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000" b="1" dirty="0" err="1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lang="en-US" sz="4000" b="1" dirty="0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серверной</a:t>
            </a:r>
            <a:r>
              <a:rPr lang="en-US" sz="4000" b="1" dirty="0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части</a:t>
            </a:r>
            <a:r>
              <a:rPr lang="en-US" sz="4000" b="1" dirty="0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информационной</a:t>
            </a:r>
            <a:r>
              <a:rPr lang="en-US" sz="4000" b="1" dirty="0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системы</a:t>
            </a:r>
            <a:br>
              <a:rPr lang="ru-RU" sz="4000" b="1" dirty="0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 err="1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для</a:t>
            </a:r>
            <a:r>
              <a:rPr lang="en-US" sz="4000" b="1" dirty="0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управления</a:t>
            </a:r>
            <a:r>
              <a:rPr lang="en-US" sz="4000" b="1" dirty="0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расписанием</a:t>
            </a:r>
            <a:r>
              <a:rPr lang="en-US" sz="4000" b="1" dirty="0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 и </a:t>
            </a:r>
            <a:r>
              <a:rPr lang="en-US" sz="4000" b="1" dirty="0" err="1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посещаемостью</a:t>
            </a:r>
            <a:r>
              <a:rPr lang="en-US" sz="4000" b="1" dirty="0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 в </a:t>
            </a:r>
            <a:r>
              <a:rPr lang="en-US" sz="4000" b="1" dirty="0" err="1">
                <a:solidFill>
                  <a:srgbClr val="FCC40A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фитнес-центре</a:t>
            </a:r>
            <a:endParaRPr lang="ru-RU" sz="8800" b="1" dirty="0">
              <a:solidFill>
                <a:srgbClr val="FCC40A"/>
              </a:solidFill>
              <a:latin typeface="Montserrat" panose="00000500000000000000" pitchFamily="2" charset="-52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20C862-45C9-1AB3-20B3-E9780A8D2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1416" y="4907756"/>
            <a:ext cx="6784848" cy="1655762"/>
          </a:xfrm>
        </p:spPr>
        <p:txBody>
          <a:bodyPr/>
          <a:lstStyle/>
          <a:p>
            <a:pPr algn="r"/>
            <a:r>
              <a:rPr lang="ru-RU" dirty="0">
                <a:solidFill>
                  <a:schemeClr val="bg1"/>
                </a:solidFill>
              </a:rPr>
              <a:t>Выполнил: Сулейманов Эдем Русланович</a:t>
            </a:r>
          </a:p>
          <a:p>
            <a:pPr algn="r"/>
            <a:r>
              <a:rPr lang="ru-RU" dirty="0">
                <a:solidFill>
                  <a:schemeClr val="bg1"/>
                </a:solidFill>
              </a:rPr>
              <a:t>Студент группы: ИСП-029</a:t>
            </a:r>
          </a:p>
          <a:p>
            <a:pPr algn="r"/>
            <a:r>
              <a:rPr lang="ru-RU" dirty="0">
                <a:solidFill>
                  <a:schemeClr val="bg1"/>
                </a:solidFill>
              </a:rPr>
              <a:t>Преподаватель: </a:t>
            </a:r>
            <a:r>
              <a:rPr lang="ru-RU" dirty="0" err="1">
                <a:solidFill>
                  <a:schemeClr val="bg1"/>
                </a:solidFill>
              </a:rPr>
              <a:t>Каревский</a:t>
            </a:r>
            <a:r>
              <a:rPr lang="ru-RU" dirty="0">
                <a:solidFill>
                  <a:schemeClr val="bg1"/>
                </a:solidFill>
              </a:rPr>
              <a:t> Максим Андреевич</a:t>
            </a:r>
          </a:p>
        </p:txBody>
      </p:sp>
    </p:spTree>
    <p:extLst>
      <p:ext uri="{BB962C8B-B14F-4D97-AF65-F5344CB8AC3E}">
        <p14:creationId xmlns:p14="http://schemas.microsoft.com/office/powerpoint/2010/main" val="24062977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A0D10D-FF57-D1CF-5BEA-D8EFB1DC4A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6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A6FDE6DA-05AA-EDD6-3415-7621C5ABB585}"/>
              </a:ext>
            </a:extLst>
          </p:cNvPr>
          <p:cNvSpPr/>
          <p:nvPr/>
        </p:nvSpPr>
        <p:spPr>
          <a:xfrm>
            <a:off x="8455208" y="3870547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83514EB1-D296-D808-2941-4ED31BB4F77D}"/>
              </a:ext>
            </a:extLst>
          </p:cNvPr>
          <p:cNvSpPr/>
          <p:nvPr/>
        </p:nvSpPr>
        <p:spPr>
          <a:xfrm>
            <a:off x="3736793" y="5650922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C8C4DBB1-330E-EAD2-CD24-05B5E00E4A6C}"/>
              </a:ext>
            </a:extLst>
          </p:cNvPr>
          <p:cNvSpPr/>
          <p:nvPr/>
        </p:nvSpPr>
        <p:spPr>
          <a:xfrm>
            <a:off x="-3354323" y="5364274"/>
            <a:ext cx="6300216" cy="6300216"/>
          </a:xfrm>
          <a:prstGeom prst="ellipse">
            <a:avLst/>
          </a:prstGeom>
          <a:solidFill>
            <a:srgbClr val="252738">
              <a:alpha val="50000"/>
            </a:srgbClr>
          </a:solidFill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8EC91360-5FCE-1962-2820-A283DE1099CD}"/>
              </a:ext>
            </a:extLst>
          </p:cNvPr>
          <p:cNvSpPr/>
          <p:nvPr/>
        </p:nvSpPr>
        <p:spPr>
          <a:xfrm>
            <a:off x="9663859" y="-1503045"/>
            <a:ext cx="4121658" cy="4121658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FB1DF90-32B0-23BD-33D2-676D7ABE93DF}"/>
              </a:ext>
            </a:extLst>
          </p:cNvPr>
          <p:cNvSpPr/>
          <p:nvPr/>
        </p:nvSpPr>
        <p:spPr>
          <a:xfrm>
            <a:off x="-2563423" y="-2154977"/>
            <a:ext cx="6300216" cy="6300216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3292AF9-D8C5-EAEA-AB3F-01DFE0E601BA}"/>
              </a:ext>
            </a:extLst>
          </p:cNvPr>
          <p:cNvSpPr/>
          <p:nvPr/>
        </p:nvSpPr>
        <p:spPr>
          <a:xfrm>
            <a:off x="10981301" y="420624"/>
            <a:ext cx="827881" cy="827881"/>
          </a:xfrm>
          <a:prstGeom prst="roundRect">
            <a:avLst>
              <a:gd name="adj" fmla="val 50000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CC40A"/>
                </a:solidFill>
                <a:latin typeface="Montserrat" panose="00000500000000000000" pitchFamily="2" charset="-52"/>
              </a:rPr>
              <a:t>0</a:t>
            </a:r>
            <a:endParaRPr lang="ru-RU" sz="3600" b="1" dirty="0">
              <a:solidFill>
                <a:srgbClr val="FCC40A"/>
              </a:solidFill>
              <a:latin typeface="Montserrat" panose="00000500000000000000" pitchFamily="2" charset="-52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448232A-3657-A647-99AA-8C83499EA1BB}"/>
              </a:ext>
            </a:extLst>
          </p:cNvPr>
          <p:cNvSpPr/>
          <p:nvPr/>
        </p:nvSpPr>
        <p:spPr>
          <a:xfrm>
            <a:off x="1593517" y="420624"/>
            <a:ext cx="9004967" cy="827881"/>
          </a:xfrm>
          <a:prstGeom prst="roundRect">
            <a:avLst>
              <a:gd name="adj" fmla="val 12617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FCC40A"/>
                </a:solidFill>
                <a:latin typeface="Montserrat" panose="00000500000000000000" pitchFamily="2" charset="-52"/>
              </a:rPr>
              <a:t>План презентации</a:t>
            </a: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69A8B3A6-0419-3275-E733-C1B998D562A5}"/>
              </a:ext>
            </a:extLst>
          </p:cNvPr>
          <p:cNvSpPr txBox="1"/>
          <p:nvPr/>
        </p:nvSpPr>
        <p:spPr bwMode="auto">
          <a:xfrm>
            <a:off x="1593518" y="1669129"/>
            <a:ext cx="9004966" cy="335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Clr>
                <a:srgbClr val="FCC40A"/>
              </a:buClr>
              <a:buFont typeface="+mj-lt"/>
              <a:buAutoNum type="arabicPeriod"/>
              <a:defRPr/>
            </a:pPr>
            <a:r>
              <a:rPr lang="ru-RU" sz="2400" b="1" dirty="0">
                <a:solidFill>
                  <a:schemeClr val="bg1">
                    <a:lumMod val="85000"/>
                  </a:schemeClr>
                </a:solidFill>
                <a:latin typeface="Montserrat" panose="00000500000000000000" pitchFamily="2" charset="-52"/>
              </a:rPr>
              <a:t>Краткая информация об организации</a:t>
            </a:r>
            <a:endParaRPr sz="1600" b="1" dirty="0">
              <a:solidFill>
                <a:schemeClr val="bg1">
                  <a:lumMod val="85000"/>
                </a:schemeClr>
              </a:solidFill>
              <a:latin typeface="Montserrat" panose="00000500000000000000" pitchFamily="2" charset="-52"/>
            </a:endParaRPr>
          </a:p>
          <a:p>
            <a:pPr marL="514350" indent="-514350">
              <a:lnSpc>
                <a:spcPct val="150000"/>
              </a:lnSpc>
              <a:buClr>
                <a:srgbClr val="FCC40A"/>
              </a:buClr>
              <a:buFont typeface="+mj-lt"/>
              <a:buAutoNum type="arabicPeriod"/>
              <a:defRPr/>
            </a:pPr>
            <a:r>
              <a:rPr lang="ru-RU" sz="2400" b="1" dirty="0">
                <a:solidFill>
                  <a:schemeClr val="bg1">
                    <a:lumMod val="85000"/>
                  </a:schemeClr>
                </a:solidFill>
                <a:latin typeface="Montserrat" panose="00000500000000000000" pitchFamily="2" charset="-52"/>
              </a:rPr>
              <a:t>Почему потребовался веб-сайт</a:t>
            </a:r>
            <a:endParaRPr sz="1600" b="1" dirty="0">
              <a:solidFill>
                <a:schemeClr val="bg1">
                  <a:lumMod val="85000"/>
                </a:schemeClr>
              </a:solidFill>
              <a:latin typeface="Montserrat" panose="00000500000000000000" pitchFamily="2" charset="-52"/>
            </a:endParaRPr>
          </a:p>
          <a:p>
            <a:pPr marL="514350" indent="-514350">
              <a:lnSpc>
                <a:spcPct val="150000"/>
              </a:lnSpc>
              <a:buClr>
                <a:srgbClr val="FCC40A"/>
              </a:buClr>
              <a:buFont typeface="+mj-lt"/>
              <a:buAutoNum type="arabicPeriod"/>
              <a:defRPr/>
            </a:pPr>
            <a:r>
              <a:rPr lang="ru-RU" sz="2400" b="1" dirty="0">
                <a:solidFill>
                  <a:schemeClr val="bg1">
                    <a:lumMod val="85000"/>
                  </a:schemeClr>
                </a:solidFill>
                <a:latin typeface="Montserrat" panose="00000500000000000000" pitchFamily="2" charset="-52"/>
              </a:rPr>
              <a:t>Цель проекта</a:t>
            </a:r>
            <a:endParaRPr sz="1600" b="1" dirty="0">
              <a:solidFill>
                <a:schemeClr val="bg1">
                  <a:lumMod val="85000"/>
                </a:schemeClr>
              </a:solidFill>
              <a:latin typeface="Montserrat" panose="00000500000000000000" pitchFamily="2" charset="-52"/>
            </a:endParaRPr>
          </a:p>
          <a:p>
            <a:pPr marL="514350" indent="-514350">
              <a:lnSpc>
                <a:spcPct val="150000"/>
              </a:lnSpc>
              <a:buClr>
                <a:srgbClr val="FCC40A"/>
              </a:buClr>
              <a:buFont typeface="+mj-lt"/>
              <a:buAutoNum type="arabicPeriod"/>
              <a:defRPr/>
            </a:pPr>
            <a:r>
              <a:rPr lang="ru-RU" sz="2400" b="1" dirty="0">
                <a:solidFill>
                  <a:schemeClr val="bg1">
                    <a:lumMod val="85000"/>
                  </a:schemeClr>
                </a:solidFill>
                <a:latin typeface="Montserrat" panose="00000500000000000000" pitchFamily="2" charset="-52"/>
              </a:rPr>
              <a:t>Задачи проекта</a:t>
            </a:r>
            <a:endParaRPr sz="1600" b="1" dirty="0">
              <a:solidFill>
                <a:schemeClr val="bg1">
                  <a:lumMod val="85000"/>
                </a:schemeClr>
              </a:solidFill>
              <a:latin typeface="Montserrat" panose="00000500000000000000" pitchFamily="2" charset="-52"/>
            </a:endParaRPr>
          </a:p>
          <a:p>
            <a:pPr marL="514350" indent="-514350">
              <a:lnSpc>
                <a:spcPct val="150000"/>
              </a:lnSpc>
              <a:buClr>
                <a:srgbClr val="FCC40A"/>
              </a:buClr>
              <a:buFont typeface="+mj-lt"/>
              <a:buAutoNum type="arabicPeriod"/>
              <a:defRPr/>
            </a:pPr>
            <a:r>
              <a:rPr lang="ru-RU" sz="2400" b="1" dirty="0">
                <a:solidFill>
                  <a:schemeClr val="bg1">
                    <a:lumMod val="85000"/>
                  </a:schemeClr>
                </a:solidFill>
                <a:latin typeface="Montserrat" panose="00000500000000000000" pitchFamily="2" charset="-52"/>
              </a:rPr>
              <a:t>Стек технологий</a:t>
            </a:r>
            <a:endParaRPr sz="1600" b="1" dirty="0">
              <a:solidFill>
                <a:schemeClr val="bg1">
                  <a:lumMod val="85000"/>
                </a:schemeClr>
              </a:solidFill>
              <a:latin typeface="Montserrat" panose="00000500000000000000" pitchFamily="2" charset="-52"/>
            </a:endParaRPr>
          </a:p>
          <a:p>
            <a:pPr marL="514350" indent="-514350">
              <a:lnSpc>
                <a:spcPct val="150000"/>
              </a:lnSpc>
              <a:buClr>
                <a:srgbClr val="FCC40A"/>
              </a:buClr>
              <a:buFont typeface="+mj-lt"/>
              <a:buAutoNum type="arabicPeriod"/>
              <a:defRPr/>
            </a:pPr>
            <a:r>
              <a:rPr lang="ru-RU" sz="2400" b="1" dirty="0">
                <a:solidFill>
                  <a:schemeClr val="bg1">
                    <a:lumMod val="85000"/>
                  </a:schemeClr>
                </a:solidFill>
                <a:latin typeface="Montserrat" panose="00000500000000000000" pitchFamily="2" charset="-52"/>
              </a:rPr>
              <a:t>Описание готового проекта</a:t>
            </a:r>
            <a:endParaRPr sz="1600" b="1" dirty="0">
              <a:solidFill>
                <a:schemeClr val="bg1">
                  <a:lumMod val="85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664308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A0D10D-FF57-D1CF-5BEA-D8EFB1DC4A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6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A6FDE6DA-05AA-EDD6-3415-7621C5ABB585}"/>
              </a:ext>
            </a:extLst>
          </p:cNvPr>
          <p:cNvSpPr/>
          <p:nvPr/>
        </p:nvSpPr>
        <p:spPr>
          <a:xfrm>
            <a:off x="8455208" y="3870547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83514EB1-D296-D808-2941-4ED31BB4F77D}"/>
              </a:ext>
            </a:extLst>
          </p:cNvPr>
          <p:cNvSpPr/>
          <p:nvPr/>
        </p:nvSpPr>
        <p:spPr>
          <a:xfrm>
            <a:off x="3736793" y="5650922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C8C4DBB1-330E-EAD2-CD24-05B5E00E4A6C}"/>
              </a:ext>
            </a:extLst>
          </p:cNvPr>
          <p:cNvSpPr/>
          <p:nvPr/>
        </p:nvSpPr>
        <p:spPr>
          <a:xfrm>
            <a:off x="-3354323" y="5364274"/>
            <a:ext cx="6300216" cy="6300216"/>
          </a:xfrm>
          <a:prstGeom prst="ellipse">
            <a:avLst/>
          </a:prstGeom>
          <a:solidFill>
            <a:srgbClr val="252738">
              <a:alpha val="50000"/>
            </a:srgbClr>
          </a:solidFill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8EC91360-5FCE-1962-2820-A283DE1099CD}"/>
              </a:ext>
            </a:extLst>
          </p:cNvPr>
          <p:cNvSpPr/>
          <p:nvPr/>
        </p:nvSpPr>
        <p:spPr>
          <a:xfrm>
            <a:off x="9663859" y="-1503045"/>
            <a:ext cx="4121658" cy="4121658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FB1DF90-32B0-23BD-33D2-676D7ABE93DF}"/>
              </a:ext>
            </a:extLst>
          </p:cNvPr>
          <p:cNvSpPr/>
          <p:nvPr/>
        </p:nvSpPr>
        <p:spPr>
          <a:xfrm>
            <a:off x="-2563423" y="-2154977"/>
            <a:ext cx="6300216" cy="6300216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3292AF9-D8C5-EAEA-AB3F-01DFE0E601BA}"/>
              </a:ext>
            </a:extLst>
          </p:cNvPr>
          <p:cNvSpPr/>
          <p:nvPr/>
        </p:nvSpPr>
        <p:spPr>
          <a:xfrm>
            <a:off x="10981301" y="420624"/>
            <a:ext cx="827881" cy="827881"/>
          </a:xfrm>
          <a:prstGeom prst="roundRect">
            <a:avLst>
              <a:gd name="adj" fmla="val 50000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CC40A"/>
                </a:solidFill>
                <a:latin typeface="Montserrat" panose="00000500000000000000" pitchFamily="2" charset="-52"/>
              </a:rPr>
              <a:t>1</a:t>
            </a:r>
            <a:endParaRPr lang="ru-RU" sz="3600" b="1" dirty="0">
              <a:solidFill>
                <a:srgbClr val="FCC40A"/>
              </a:solidFill>
              <a:latin typeface="Montserrat" panose="00000500000000000000" pitchFamily="2" charset="-52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448232A-3657-A647-99AA-8C83499EA1BB}"/>
              </a:ext>
            </a:extLst>
          </p:cNvPr>
          <p:cNvSpPr/>
          <p:nvPr/>
        </p:nvSpPr>
        <p:spPr>
          <a:xfrm>
            <a:off x="1593517" y="420624"/>
            <a:ext cx="9004967" cy="827881"/>
          </a:xfrm>
          <a:prstGeom prst="roundRect">
            <a:avLst>
              <a:gd name="adj" fmla="val 12617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FCC40A"/>
                </a:solidFill>
                <a:latin typeface="Montserrat" panose="00000500000000000000" pitchFamily="2" charset="-52"/>
              </a:rPr>
              <a:t>Об организации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1D9628-D7A3-5D88-9FFF-E919098A8940}"/>
              </a:ext>
            </a:extLst>
          </p:cNvPr>
          <p:cNvSpPr txBox="1"/>
          <p:nvPr/>
        </p:nvSpPr>
        <p:spPr>
          <a:xfrm>
            <a:off x="1593516" y="1669129"/>
            <a:ext cx="9004967" cy="4195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bg1">
                    <a:lumMod val="85000"/>
                  </a:schemeClr>
                </a:solidFill>
                <a:latin typeface="Montserrat" panose="00000500000000000000" pitchFamily="2" charset="-52"/>
              </a:rPr>
              <a:t>«Ю-Классик» находится в Пушкинском районе на 3-м Некрасовском проезде.</a:t>
            </a:r>
          </a:p>
          <a:p>
            <a:pPr>
              <a:lnSpc>
                <a:spcPct val="150000"/>
              </a:lnSpc>
            </a:pPr>
            <a:endParaRPr lang="ru-RU" sz="2000" b="1" dirty="0">
              <a:solidFill>
                <a:schemeClr val="bg1">
                  <a:lumMod val="85000"/>
                </a:schemeClr>
              </a:solidFill>
              <a:latin typeface="Montserrat" panose="00000500000000000000" pitchFamily="2" charset="-52"/>
            </a:endParaRP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bg1">
                    <a:lumMod val="85000"/>
                  </a:schemeClr>
                </a:solidFill>
                <a:latin typeface="Montserrat" panose="00000500000000000000" pitchFamily="2" charset="-52"/>
              </a:rPr>
              <a:t>Предоставляет разнообразные услуги в сфере фитнеса: групповые аэробные и силовые занятия, тренажерный зал и танцевальная студия.</a:t>
            </a:r>
          </a:p>
          <a:p>
            <a:pPr>
              <a:lnSpc>
                <a:spcPct val="150000"/>
              </a:lnSpc>
            </a:pPr>
            <a:endParaRPr lang="ru-RU" sz="2000" b="1" dirty="0">
              <a:solidFill>
                <a:schemeClr val="bg1">
                  <a:lumMod val="85000"/>
                </a:schemeClr>
              </a:solidFill>
              <a:latin typeface="Montserrat" panose="00000500000000000000" pitchFamily="2" charset="-52"/>
            </a:endParaRP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bg1">
                    <a:lumMod val="85000"/>
                  </a:schemeClr>
                </a:solidFill>
                <a:latin typeface="Montserrat" panose="00000500000000000000" pitchFamily="2" charset="-52"/>
              </a:rPr>
              <a:t>Отличный спортзал, адекватные цены, профессиональные тренеры!</a:t>
            </a:r>
            <a:endParaRPr lang="en-US" sz="2000" b="1" dirty="0">
              <a:solidFill>
                <a:schemeClr val="bg1">
                  <a:lumMod val="85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946390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A0D10D-FF57-D1CF-5BEA-D8EFB1DC4A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6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A6FDE6DA-05AA-EDD6-3415-7621C5ABB585}"/>
              </a:ext>
            </a:extLst>
          </p:cNvPr>
          <p:cNvSpPr/>
          <p:nvPr/>
        </p:nvSpPr>
        <p:spPr>
          <a:xfrm>
            <a:off x="8455208" y="3870547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83514EB1-D296-D808-2941-4ED31BB4F77D}"/>
              </a:ext>
            </a:extLst>
          </p:cNvPr>
          <p:cNvSpPr/>
          <p:nvPr/>
        </p:nvSpPr>
        <p:spPr>
          <a:xfrm>
            <a:off x="3736793" y="5650922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C8C4DBB1-330E-EAD2-CD24-05B5E00E4A6C}"/>
              </a:ext>
            </a:extLst>
          </p:cNvPr>
          <p:cNvSpPr/>
          <p:nvPr/>
        </p:nvSpPr>
        <p:spPr>
          <a:xfrm>
            <a:off x="-3354323" y="5364274"/>
            <a:ext cx="6300216" cy="6300216"/>
          </a:xfrm>
          <a:prstGeom prst="ellipse">
            <a:avLst/>
          </a:prstGeom>
          <a:solidFill>
            <a:srgbClr val="252738">
              <a:alpha val="50000"/>
            </a:srgbClr>
          </a:solidFill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8EC91360-5FCE-1962-2820-A283DE1099CD}"/>
              </a:ext>
            </a:extLst>
          </p:cNvPr>
          <p:cNvSpPr/>
          <p:nvPr/>
        </p:nvSpPr>
        <p:spPr>
          <a:xfrm>
            <a:off x="9663859" y="-1503045"/>
            <a:ext cx="4121658" cy="4121658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FB1DF90-32B0-23BD-33D2-676D7ABE93DF}"/>
              </a:ext>
            </a:extLst>
          </p:cNvPr>
          <p:cNvSpPr/>
          <p:nvPr/>
        </p:nvSpPr>
        <p:spPr>
          <a:xfrm>
            <a:off x="-2563423" y="-2154977"/>
            <a:ext cx="6300216" cy="6300216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3292AF9-D8C5-EAEA-AB3F-01DFE0E601BA}"/>
              </a:ext>
            </a:extLst>
          </p:cNvPr>
          <p:cNvSpPr/>
          <p:nvPr/>
        </p:nvSpPr>
        <p:spPr>
          <a:xfrm>
            <a:off x="10981301" y="420624"/>
            <a:ext cx="827881" cy="827881"/>
          </a:xfrm>
          <a:prstGeom prst="roundRect">
            <a:avLst>
              <a:gd name="adj" fmla="val 50000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FCC40A"/>
                </a:solidFill>
                <a:latin typeface="Montserrat" panose="00000500000000000000" pitchFamily="2" charset="-52"/>
              </a:rPr>
              <a:t>2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448232A-3657-A647-99AA-8C83499EA1BB}"/>
              </a:ext>
            </a:extLst>
          </p:cNvPr>
          <p:cNvSpPr/>
          <p:nvPr/>
        </p:nvSpPr>
        <p:spPr>
          <a:xfrm>
            <a:off x="1593517" y="420624"/>
            <a:ext cx="9004967" cy="827881"/>
          </a:xfrm>
          <a:prstGeom prst="roundRect">
            <a:avLst>
              <a:gd name="adj" fmla="val 12617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FCC40A"/>
                </a:solidFill>
                <a:latin typeface="Montserrat" panose="00000500000000000000" pitchFamily="2" charset="-52"/>
              </a:rPr>
              <a:t>Зачем веб-сайт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1D9628-D7A3-5D88-9FFF-E919098A8940}"/>
              </a:ext>
            </a:extLst>
          </p:cNvPr>
          <p:cNvSpPr txBox="1"/>
          <p:nvPr/>
        </p:nvSpPr>
        <p:spPr>
          <a:xfrm>
            <a:off x="1593517" y="1793040"/>
            <a:ext cx="9004967" cy="3733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bg1">
                    <a:lumMod val="85000"/>
                  </a:schemeClr>
                </a:solidFill>
                <a:latin typeface="Montserrat" panose="00000500000000000000" pitchFamily="2" charset="-52"/>
              </a:rPr>
              <a:t>Отсутствие централизованной системы (веб-сайта) приводит к увеличению количества ошибок, дублированию данных, затруднениям в контроле загруженности залов и сложности в анализе активности клиентов.</a:t>
            </a:r>
          </a:p>
          <a:p>
            <a:pPr>
              <a:lnSpc>
                <a:spcPct val="150000"/>
              </a:lnSpc>
            </a:pPr>
            <a:endParaRPr lang="ru-RU" sz="2000" b="1" dirty="0">
              <a:solidFill>
                <a:schemeClr val="bg1">
                  <a:lumMod val="85000"/>
                </a:schemeClr>
              </a:solidFill>
              <a:latin typeface="Montserrat" panose="00000500000000000000" pitchFamily="2" charset="-52"/>
            </a:endParaRP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bg1">
                    <a:lumMod val="85000"/>
                  </a:schemeClr>
                </a:solidFill>
                <a:latin typeface="Montserrat" panose="00000500000000000000" pitchFamily="2" charset="-52"/>
              </a:rPr>
              <a:t>Сейчас в организации все записи производятся в ручную, сайт же обеспечит автоматизацию ключевых процессов и облегчит работу персонала.</a:t>
            </a:r>
          </a:p>
        </p:txBody>
      </p:sp>
    </p:spTree>
    <p:extLst>
      <p:ext uri="{BB962C8B-B14F-4D97-AF65-F5344CB8AC3E}">
        <p14:creationId xmlns:p14="http://schemas.microsoft.com/office/powerpoint/2010/main" val="16752689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A0D10D-FF57-D1CF-5BEA-D8EFB1DC4A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6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A6FDE6DA-05AA-EDD6-3415-7621C5ABB585}"/>
              </a:ext>
            </a:extLst>
          </p:cNvPr>
          <p:cNvSpPr/>
          <p:nvPr/>
        </p:nvSpPr>
        <p:spPr>
          <a:xfrm>
            <a:off x="8455208" y="3870547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83514EB1-D296-D808-2941-4ED31BB4F77D}"/>
              </a:ext>
            </a:extLst>
          </p:cNvPr>
          <p:cNvSpPr/>
          <p:nvPr/>
        </p:nvSpPr>
        <p:spPr>
          <a:xfrm>
            <a:off x="3736793" y="5650922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C8C4DBB1-330E-EAD2-CD24-05B5E00E4A6C}"/>
              </a:ext>
            </a:extLst>
          </p:cNvPr>
          <p:cNvSpPr/>
          <p:nvPr/>
        </p:nvSpPr>
        <p:spPr>
          <a:xfrm>
            <a:off x="-3354323" y="5364274"/>
            <a:ext cx="6300216" cy="6300216"/>
          </a:xfrm>
          <a:prstGeom prst="ellipse">
            <a:avLst/>
          </a:prstGeom>
          <a:solidFill>
            <a:srgbClr val="252738">
              <a:alpha val="50000"/>
            </a:srgbClr>
          </a:solidFill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8EC91360-5FCE-1962-2820-A283DE1099CD}"/>
              </a:ext>
            </a:extLst>
          </p:cNvPr>
          <p:cNvSpPr/>
          <p:nvPr/>
        </p:nvSpPr>
        <p:spPr>
          <a:xfrm>
            <a:off x="9663859" y="-1503045"/>
            <a:ext cx="4121658" cy="4121658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FB1DF90-32B0-23BD-33D2-676D7ABE93DF}"/>
              </a:ext>
            </a:extLst>
          </p:cNvPr>
          <p:cNvSpPr/>
          <p:nvPr/>
        </p:nvSpPr>
        <p:spPr>
          <a:xfrm>
            <a:off x="-2563423" y="-2154977"/>
            <a:ext cx="6300216" cy="6300216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3292AF9-D8C5-EAEA-AB3F-01DFE0E601BA}"/>
              </a:ext>
            </a:extLst>
          </p:cNvPr>
          <p:cNvSpPr/>
          <p:nvPr/>
        </p:nvSpPr>
        <p:spPr>
          <a:xfrm>
            <a:off x="10981301" y="420624"/>
            <a:ext cx="827881" cy="827881"/>
          </a:xfrm>
          <a:prstGeom prst="roundRect">
            <a:avLst>
              <a:gd name="adj" fmla="val 50000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FCC40A"/>
                </a:solidFill>
                <a:latin typeface="Montserrat" panose="00000500000000000000" pitchFamily="2" charset="-52"/>
              </a:rPr>
              <a:t>3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448232A-3657-A647-99AA-8C83499EA1BB}"/>
              </a:ext>
            </a:extLst>
          </p:cNvPr>
          <p:cNvSpPr/>
          <p:nvPr/>
        </p:nvSpPr>
        <p:spPr>
          <a:xfrm>
            <a:off x="1593517" y="420624"/>
            <a:ext cx="9004967" cy="827881"/>
          </a:xfrm>
          <a:prstGeom prst="roundRect">
            <a:avLst>
              <a:gd name="adj" fmla="val 12617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FCC40A"/>
                </a:solidFill>
                <a:latin typeface="Montserrat" panose="00000500000000000000" pitchFamily="2" charset="-52"/>
              </a:rPr>
              <a:t>Цель проекта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1D9628-D7A3-5D88-9FFF-E919098A8940}"/>
              </a:ext>
            </a:extLst>
          </p:cNvPr>
          <p:cNvSpPr txBox="1"/>
          <p:nvPr/>
        </p:nvSpPr>
        <p:spPr>
          <a:xfrm>
            <a:off x="1593517" y="2023872"/>
            <a:ext cx="9004967" cy="2810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bg1">
                    <a:lumMod val="85000"/>
                  </a:schemeClr>
                </a:solidFill>
                <a:latin typeface="Montserrat" panose="00000500000000000000" pitchFamily="2" charset="-52"/>
              </a:rPr>
              <a:t>Целью данной работы является разработка серверной части веб-сайта для фитнес-центра «Ю-Классик», обеспечивающей автоматизацию ключевых процессов: ведение расписания групповых тренировок, запись клиентов на занятия, фиксацию посещаемости, управление пользователями, абонементами и расписанием.</a:t>
            </a:r>
            <a:endParaRPr lang="en-US" sz="2000" b="1" dirty="0">
              <a:solidFill>
                <a:schemeClr val="bg1">
                  <a:lumMod val="85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603786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A0D10D-FF57-D1CF-5BEA-D8EFB1DC4A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6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A6FDE6DA-05AA-EDD6-3415-7621C5ABB585}"/>
              </a:ext>
            </a:extLst>
          </p:cNvPr>
          <p:cNvSpPr/>
          <p:nvPr/>
        </p:nvSpPr>
        <p:spPr>
          <a:xfrm>
            <a:off x="8455208" y="3870547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83514EB1-D296-D808-2941-4ED31BB4F77D}"/>
              </a:ext>
            </a:extLst>
          </p:cNvPr>
          <p:cNvSpPr/>
          <p:nvPr/>
        </p:nvSpPr>
        <p:spPr>
          <a:xfrm>
            <a:off x="3736793" y="5650922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C8C4DBB1-330E-EAD2-CD24-05B5E00E4A6C}"/>
              </a:ext>
            </a:extLst>
          </p:cNvPr>
          <p:cNvSpPr/>
          <p:nvPr/>
        </p:nvSpPr>
        <p:spPr>
          <a:xfrm>
            <a:off x="-3354323" y="5364274"/>
            <a:ext cx="6300216" cy="6300216"/>
          </a:xfrm>
          <a:prstGeom prst="ellipse">
            <a:avLst/>
          </a:prstGeom>
          <a:solidFill>
            <a:srgbClr val="252738">
              <a:alpha val="50000"/>
            </a:srgbClr>
          </a:solidFill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8EC91360-5FCE-1962-2820-A283DE1099CD}"/>
              </a:ext>
            </a:extLst>
          </p:cNvPr>
          <p:cNvSpPr/>
          <p:nvPr/>
        </p:nvSpPr>
        <p:spPr>
          <a:xfrm>
            <a:off x="9663859" y="-1503045"/>
            <a:ext cx="4121658" cy="4121658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FB1DF90-32B0-23BD-33D2-676D7ABE93DF}"/>
              </a:ext>
            </a:extLst>
          </p:cNvPr>
          <p:cNvSpPr/>
          <p:nvPr/>
        </p:nvSpPr>
        <p:spPr>
          <a:xfrm>
            <a:off x="-2563423" y="-2154977"/>
            <a:ext cx="6300216" cy="6300216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3292AF9-D8C5-EAEA-AB3F-01DFE0E601BA}"/>
              </a:ext>
            </a:extLst>
          </p:cNvPr>
          <p:cNvSpPr/>
          <p:nvPr/>
        </p:nvSpPr>
        <p:spPr>
          <a:xfrm>
            <a:off x="10981301" y="420624"/>
            <a:ext cx="827881" cy="827881"/>
          </a:xfrm>
          <a:prstGeom prst="roundRect">
            <a:avLst>
              <a:gd name="adj" fmla="val 50000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FCC40A"/>
                </a:solidFill>
                <a:latin typeface="Montserrat" panose="00000500000000000000" pitchFamily="2" charset="-52"/>
              </a:rPr>
              <a:t>4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448232A-3657-A647-99AA-8C83499EA1BB}"/>
              </a:ext>
            </a:extLst>
          </p:cNvPr>
          <p:cNvSpPr/>
          <p:nvPr/>
        </p:nvSpPr>
        <p:spPr>
          <a:xfrm>
            <a:off x="1593517" y="420624"/>
            <a:ext cx="9004967" cy="827881"/>
          </a:xfrm>
          <a:prstGeom prst="roundRect">
            <a:avLst>
              <a:gd name="adj" fmla="val 12617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FCC40A"/>
                </a:solidFill>
                <a:latin typeface="Montserrat" panose="00000500000000000000" pitchFamily="2" charset="-52"/>
              </a:rPr>
              <a:t>Задачи проекта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F59B2B40-9EF9-E0A3-07C6-65A1379A67D5}"/>
              </a:ext>
            </a:extLst>
          </p:cNvPr>
          <p:cNvSpPr txBox="1"/>
          <p:nvPr/>
        </p:nvSpPr>
        <p:spPr bwMode="auto">
          <a:xfrm>
            <a:off x="1593518" y="1669129"/>
            <a:ext cx="9004966" cy="39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514350" indent="-514350">
              <a:lnSpc>
                <a:spcPct val="150000"/>
              </a:lnSpc>
              <a:buClr>
                <a:srgbClr val="FCC40A"/>
              </a:buClr>
              <a:buFont typeface="+mj-lt"/>
              <a:buAutoNum type="arabicPeriod"/>
              <a:defRPr sz="24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Разработать веб-сайт в едином стиле</a:t>
            </a:r>
          </a:p>
          <a:p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Реализовать создание/редактирование пользователей, абонементов, занятий</a:t>
            </a:r>
          </a:p>
          <a:p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Реализовать приобретение абонементов, запись и учет пользователей на занятия</a:t>
            </a:r>
          </a:p>
          <a:p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Реализовать разграничение по ролям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8691673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A0D10D-FF57-D1CF-5BEA-D8EFB1DC4A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6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A6FDE6DA-05AA-EDD6-3415-7621C5ABB585}"/>
              </a:ext>
            </a:extLst>
          </p:cNvPr>
          <p:cNvSpPr/>
          <p:nvPr/>
        </p:nvSpPr>
        <p:spPr>
          <a:xfrm>
            <a:off x="8455208" y="3870547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83514EB1-D296-D808-2941-4ED31BB4F77D}"/>
              </a:ext>
            </a:extLst>
          </p:cNvPr>
          <p:cNvSpPr/>
          <p:nvPr/>
        </p:nvSpPr>
        <p:spPr>
          <a:xfrm>
            <a:off x="3736793" y="5650922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C8C4DBB1-330E-EAD2-CD24-05B5E00E4A6C}"/>
              </a:ext>
            </a:extLst>
          </p:cNvPr>
          <p:cNvSpPr/>
          <p:nvPr/>
        </p:nvSpPr>
        <p:spPr>
          <a:xfrm>
            <a:off x="-3354323" y="5364274"/>
            <a:ext cx="6300216" cy="6300216"/>
          </a:xfrm>
          <a:prstGeom prst="ellipse">
            <a:avLst/>
          </a:prstGeom>
          <a:solidFill>
            <a:srgbClr val="252738">
              <a:alpha val="50000"/>
            </a:srgbClr>
          </a:solidFill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8EC91360-5FCE-1962-2820-A283DE1099CD}"/>
              </a:ext>
            </a:extLst>
          </p:cNvPr>
          <p:cNvSpPr/>
          <p:nvPr/>
        </p:nvSpPr>
        <p:spPr>
          <a:xfrm>
            <a:off x="9663859" y="-1503045"/>
            <a:ext cx="4121658" cy="4121658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FB1DF90-32B0-23BD-33D2-676D7ABE93DF}"/>
              </a:ext>
            </a:extLst>
          </p:cNvPr>
          <p:cNvSpPr/>
          <p:nvPr/>
        </p:nvSpPr>
        <p:spPr>
          <a:xfrm>
            <a:off x="-2563423" y="-2154977"/>
            <a:ext cx="6300216" cy="6300216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3292AF9-D8C5-EAEA-AB3F-01DFE0E601BA}"/>
              </a:ext>
            </a:extLst>
          </p:cNvPr>
          <p:cNvSpPr/>
          <p:nvPr/>
        </p:nvSpPr>
        <p:spPr>
          <a:xfrm>
            <a:off x="10981301" y="420624"/>
            <a:ext cx="827881" cy="827881"/>
          </a:xfrm>
          <a:prstGeom prst="roundRect">
            <a:avLst>
              <a:gd name="adj" fmla="val 50000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FCC40A"/>
                </a:solidFill>
                <a:latin typeface="Montserrat" panose="00000500000000000000" pitchFamily="2" charset="-52"/>
              </a:rPr>
              <a:t>5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448232A-3657-A647-99AA-8C83499EA1BB}"/>
              </a:ext>
            </a:extLst>
          </p:cNvPr>
          <p:cNvSpPr/>
          <p:nvPr/>
        </p:nvSpPr>
        <p:spPr>
          <a:xfrm>
            <a:off x="1593517" y="420624"/>
            <a:ext cx="9004967" cy="827881"/>
          </a:xfrm>
          <a:prstGeom prst="roundRect">
            <a:avLst>
              <a:gd name="adj" fmla="val 12617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FCC40A"/>
                </a:solidFill>
                <a:latin typeface="Montserrat" panose="00000500000000000000" pitchFamily="2" charset="-52"/>
              </a:rPr>
              <a:t>Стек технологий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F59B2B40-9EF9-E0A3-07C6-65A1379A67D5}"/>
              </a:ext>
            </a:extLst>
          </p:cNvPr>
          <p:cNvSpPr txBox="1"/>
          <p:nvPr/>
        </p:nvSpPr>
        <p:spPr bwMode="auto">
          <a:xfrm>
            <a:off x="1593518" y="1669129"/>
            <a:ext cx="9004966" cy="58387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ru-RU"/>
            </a:defPPr>
            <a:lvl1pPr marL="514350" indent="-514350">
              <a:lnSpc>
                <a:spcPct val="150000"/>
              </a:lnSpc>
              <a:buClr>
                <a:srgbClr val="FCC40A"/>
              </a:buClr>
              <a:buFont typeface="+mj-lt"/>
              <a:buAutoNum type="arabicPeriod"/>
              <a:defRPr sz="24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Laravel (PHP,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MySql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), JS, CSS (SCSS)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347FEEB-7DD5-9EB6-30A6-8E0C3C73C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/>
        </p:blipFill>
        <p:spPr bwMode="auto">
          <a:xfrm>
            <a:off x="4860460" y="2777374"/>
            <a:ext cx="2879512" cy="287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549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A0D10D-FF57-D1CF-5BEA-D8EFB1DC4A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6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A6FDE6DA-05AA-EDD6-3415-7621C5ABB585}"/>
              </a:ext>
            </a:extLst>
          </p:cNvPr>
          <p:cNvSpPr/>
          <p:nvPr/>
        </p:nvSpPr>
        <p:spPr>
          <a:xfrm>
            <a:off x="8455208" y="3870547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83514EB1-D296-D808-2941-4ED31BB4F77D}"/>
              </a:ext>
            </a:extLst>
          </p:cNvPr>
          <p:cNvSpPr/>
          <p:nvPr/>
        </p:nvSpPr>
        <p:spPr>
          <a:xfrm>
            <a:off x="3736793" y="5650922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C8C4DBB1-330E-EAD2-CD24-05B5E00E4A6C}"/>
              </a:ext>
            </a:extLst>
          </p:cNvPr>
          <p:cNvSpPr/>
          <p:nvPr/>
        </p:nvSpPr>
        <p:spPr>
          <a:xfrm>
            <a:off x="-3354323" y="5364274"/>
            <a:ext cx="6300216" cy="6300216"/>
          </a:xfrm>
          <a:prstGeom prst="ellipse">
            <a:avLst/>
          </a:prstGeom>
          <a:solidFill>
            <a:srgbClr val="252738">
              <a:alpha val="50000"/>
            </a:srgbClr>
          </a:solidFill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8EC91360-5FCE-1962-2820-A283DE1099CD}"/>
              </a:ext>
            </a:extLst>
          </p:cNvPr>
          <p:cNvSpPr/>
          <p:nvPr/>
        </p:nvSpPr>
        <p:spPr>
          <a:xfrm>
            <a:off x="9663859" y="-1503045"/>
            <a:ext cx="4121658" cy="4121658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FB1DF90-32B0-23BD-33D2-676D7ABE93DF}"/>
              </a:ext>
            </a:extLst>
          </p:cNvPr>
          <p:cNvSpPr/>
          <p:nvPr/>
        </p:nvSpPr>
        <p:spPr>
          <a:xfrm>
            <a:off x="-2563423" y="-2154977"/>
            <a:ext cx="6300216" cy="6300216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3292AF9-D8C5-EAEA-AB3F-01DFE0E601BA}"/>
              </a:ext>
            </a:extLst>
          </p:cNvPr>
          <p:cNvSpPr/>
          <p:nvPr/>
        </p:nvSpPr>
        <p:spPr>
          <a:xfrm>
            <a:off x="10981301" y="420624"/>
            <a:ext cx="827881" cy="827881"/>
          </a:xfrm>
          <a:prstGeom prst="roundRect">
            <a:avLst>
              <a:gd name="adj" fmla="val 50000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FCC40A"/>
                </a:solidFill>
                <a:latin typeface="Montserrat" panose="00000500000000000000" pitchFamily="2" charset="-52"/>
              </a:rPr>
              <a:t>6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448232A-3657-A647-99AA-8C83499EA1BB}"/>
              </a:ext>
            </a:extLst>
          </p:cNvPr>
          <p:cNvSpPr/>
          <p:nvPr/>
        </p:nvSpPr>
        <p:spPr>
          <a:xfrm>
            <a:off x="1593517" y="420624"/>
            <a:ext cx="9004967" cy="827881"/>
          </a:xfrm>
          <a:prstGeom prst="roundRect">
            <a:avLst>
              <a:gd name="adj" fmla="val 12617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FCC40A"/>
                </a:solidFill>
                <a:latin typeface="Montserrat" panose="00000500000000000000" pitchFamily="2" charset="-52"/>
              </a:rPr>
              <a:t>Готовый проект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372A59-54E0-DBAC-E805-05733D404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1" y="1562189"/>
            <a:ext cx="10388600" cy="511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3177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A0D10D-FF57-D1CF-5BEA-D8EFB1DC4A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6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A6FDE6DA-05AA-EDD6-3415-7621C5ABB585}"/>
              </a:ext>
            </a:extLst>
          </p:cNvPr>
          <p:cNvSpPr/>
          <p:nvPr/>
        </p:nvSpPr>
        <p:spPr>
          <a:xfrm>
            <a:off x="8455208" y="3870547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83514EB1-D296-D808-2941-4ED31BB4F77D}"/>
              </a:ext>
            </a:extLst>
          </p:cNvPr>
          <p:cNvSpPr/>
          <p:nvPr/>
        </p:nvSpPr>
        <p:spPr>
          <a:xfrm>
            <a:off x="3736793" y="5650922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C8C4DBB1-330E-EAD2-CD24-05B5E00E4A6C}"/>
              </a:ext>
            </a:extLst>
          </p:cNvPr>
          <p:cNvSpPr/>
          <p:nvPr/>
        </p:nvSpPr>
        <p:spPr>
          <a:xfrm>
            <a:off x="-3354323" y="5364274"/>
            <a:ext cx="6300216" cy="6300216"/>
          </a:xfrm>
          <a:prstGeom prst="ellipse">
            <a:avLst/>
          </a:prstGeom>
          <a:solidFill>
            <a:srgbClr val="252738">
              <a:alpha val="50000"/>
            </a:srgbClr>
          </a:solidFill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8EC91360-5FCE-1962-2820-A283DE1099CD}"/>
              </a:ext>
            </a:extLst>
          </p:cNvPr>
          <p:cNvSpPr/>
          <p:nvPr/>
        </p:nvSpPr>
        <p:spPr>
          <a:xfrm>
            <a:off x="9663859" y="-1503045"/>
            <a:ext cx="4121658" cy="4121658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FB1DF90-32B0-23BD-33D2-676D7ABE93DF}"/>
              </a:ext>
            </a:extLst>
          </p:cNvPr>
          <p:cNvSpPr/>
          <p:nvPr/>
        </p:nvSpPr>
        <p:spPr>
          <a:xfrm>
            <a:off x="-2563423" y="-2154977"/>
            <a:ext cx="6300216" cy="6300216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3292AF9-D8C5-EAEA-AB3F-01DFE0E601BA}"/>
              </a:ext>
            </a:extLst>
          </p:cNvPr>
          <p:cNvSpPr/>
          <p:nvPr/>
        </p:nvSpPr>
        <p:spPr>
          <a:xfrm>
            <a:off x="10981301" y="420624"/>
            <a:ext cx="827881" cy="827881"/>
          </a:xfrm>
          <a:prstGeom prst="roundRect">
            <a:avLst>
              <a:gd name="adj" fmla="val 50000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CC40A"/>
                </a:solidFill>
                <a:latin typeface="Montserrat" panose="00000500000000000000" pitchFamily="2" charset="-52"/>
              </a:rPr>
              <a:t>7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69C57C-186D-58EF-2C07-602CB9095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357" y="557784"/>
            <a:ext cx="4965428" cy="333840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6398EA1-326B-F0B2-242E-C7F18A5A5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805" y="2367502"/>
            <a:ext cx="5731377" cy="412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213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A0D10D-FF57-D1CF-5BEA-D8EFB1DC4A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6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A6FDE6DA-05AA-EDD6-3415-7621C5ABB585}"/>
              </a:ext>
            </a:extLst>
          </p:cNvPr>
          <p:cNvSpPr/>
          <p:nvPr/>
        </p:nvSpPr>
        <p:spPr>
          <a:xfrm>
            <a:off x="8455208" y="3870547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83514EB1-D296-D808-2941-4ED31BB4F77D}"/>
              </a:ext>
            </a:extLst>
          </p:cNvPr>
          <p:cNvSpPr/>
          <p:nvPr/>
        </p:nvSpPr>
        <p:spPr>
          <a:xfrm>
            <a:off x="3736793" y="5650922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C8C4DBB1-330E-EAD2-CD24-05B5E00E4A6C}"/>
              </a:ext>
            </a:extLst>
          </p:cNvPr>
          <p:cNvSpPr/>
          <p:nvPr/>
        </p:nvSpPr>
        <p:spPr>
          <a:xfrm>
            <a:off x="-3354323" y="5364274"/>
            <a:ext cx="6300216" cy="6300216"/>
          </a:xfrm>
          <a:prstGeom prst="ellipse">
            <a:avLst/>
          </a:prstGeom>
          <a:solidFill>
            <a:srgbClr val="252738">
              <a:alpha val="50000"/>
            </a:srgbClr>
          </a:solidFill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8EC91360-5FCE-1962-2820-A283DE1099CD}"/>
              </a:ext>
            </a:extLst>
          </p:cNvPr>
          <p:cNvSpPr/>
          <p:nvPr/>
        </p:nvSpPr>
        <p:spPr>
          <a:xfrm>
            <a:off x="9663859" y="-1503045"/>
            <a:ext cx="4121658" cy="4121658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FB1DF90-32B0-23BD-33D2-676D7ABE93DF}"/>
              </a:ext>
            </a:extLst>
          </p:cNvPr>
          <p:cNvSpPr/>
          <p:nvPr/>
        </p:nvSpPr>
        <p:spPr>
          <a:xfrm>
            <a:off x="-2563423" y="-2154977"/>
            <a:ext cx="6300216" cy="6300216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3292AF9-D8C5-EAEA-AB3F-01DFE0E601BA}"/>
              </a:ext>
            </a:extLst>
          </p:cNvPr>
          <p:cNvSpPr/>
          <p:nvPr/>
        </p:nvSpPr>
        <p:spPr>
          <a:xfrm>
            <a:off x="10981301" y="420624"/>
            <a:ext cx="827881" cy="827881"/>
          </a:xfrm>
          <a:prstGeom prst="roundRect">
            <a:avLst>
              <a:gd name="adj" fmla="val 50000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FCC40A"/>
                </a:solidFill>
                <a:latin typeface="Montserrat" panose="00000500000000000000" pitchFamily="2" charset="-52"/>
              </a:rPr>
              <a:t>8</a:t>
            </a:r>
            <a:endParaRPr lang="en-US" sz="3600" b="1" dirty="0">
              <a:solidFill>
                <a:srgbClr val="FCC40A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E5DD9C-84C2-158A-FB74-87907AACD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0" y="281218"/>
            <a:ext cx="4449529" cy="414523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F9C6EFA-E7AA-5D45-CD30-1E6E5B144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3400" y="378332"/>
            <a:ext cx="5094738" cy="268722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732E61E-3299-0B2C-C5A4-2635206644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951" y="3898487"/>
            <a:ext cx="5211148" cy="243767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9170F57-CCA2-959F-7FF1-1349C29238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4175" y="4646177"/>
            <a:ext cx="1499983" cy="212798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58CB412-9BBE-D188-F632-36194184F3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3369" y="5093137"/>
            <a:ext cx="1609745" cy="152446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C688BFB-404D-302F-B09D-B599F6CBEA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5869" y="2354659"/>
            <a:ext cx="2254630" cy="211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4659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A0D10D-FF57-D1CF-5BEA-D8EFB1DC4A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6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A6FDE6DA-05AA-EDD6-3415-7621C5ABB585}"/>
              </a:ext>
            </a:extLst>
          </p:cNvPr>
          <p:cNvSpPr/>
          <p:nvPr/>
        </p:nvSpPr>
        <p:spPr>
          <a:xfrm>
            <a:off x="8455208" y="3870547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83514EB1-D296-D808-2941-4ED31BB4F77D}"/>
              </a:ext>
            </a:extLst>
          </p:cNvPr>
          <p:cNvSpPr/>
          <p:nvPr/>
        </p:nvSpPr>
        <p:spPr>
          <a:xfrm>
            <a:off x="3736793" y="5650922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C8C4DBB1-330E-EAD2-CD24-05B5E00E4A6C}"/>
              </a:ext>
            </a:extLst>
          </p:cNvPr>
          <p:cNvSpPr/>
          <p:nvPr/>
        </p:nvSpPr>
        <p:spPr>
          <a:xfrm>
            <a:off x="-3354323" y="5364274"/>
            <a:ext cx="6300216" cy="6300216"/>
          </a:xfrm>
          <a:prstGeom prst="ellipse">
            <a:avLst/>
          </a:prstGeom>
          <a:solidFill>
            <a:srgbClr val="252738">
              <a:alpha val="50000"/>
            </a:srgbClr>
          </a:solidFill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8EC91360-5FCE-1962-2820-A283DE1099CD}"/>
              </a:ext>
            </a:extLst>
          </p:cNvPr>
          <p:cNvSpPr/>
          <p:nvPr/>
        </p:nvSpPr>
        <p:spPr>
          <a:xfrm>
            <a:off x="9663859" y="-1503045"/>
            <a:ext cx="4121658" cy="4121658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FB1DF90-32B0-23BD-33D2-676D7ABE93DF}"/>
              </a:ext>
            </a:extLst>
          </p:cNvPr>
          <p:cNvSpPr/>
          <p:nvPr/>
        </p:nvSpPr>
        <p:spPr>
          <a:xfrm>
            <a:off x="-2563423" y="-2154977"/>
            <a:ext cx="6300216" cy="6300216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3292AF9-D8C5-EAEA-AB3F-01DFE0E601BA}"/>
              </a:ext>
            </a:extLst>
          </p:cNvPr>
          <p:cNvSpPr/>
          <p:nvPr/>
        </p:nvSpPr>
        <p:spPr>
          <a:xfrm>
            <a:off x="10981301" y="420624"/>
            <a:ext cx="827881" cy="827881"/>
          </a:xfrm>
          <a:prstGeom prst="roundRect">
            <a:avLst>
              <a:gd name="adj" fmla="val 50000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CC40A"/>
                </a:solidFill>
                <a:latin typeface="Montserrat" panose="00000500000000000000" pitchFamily="2" charset="-52"/>
              </a:rPr>
              <a:t>9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0276B0-71AC-3B2E-F7AD-83E9AA244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49" y="188178"/>
            <a:ext cx="6521977" cy="388721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DDE6AFC-C677-5CEA-3F62-8EB38F71743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rcRect r="9428"/>
          <a:stretch/>
        </p:blipFill>
        <p:spPr>
          <a:xfrm>
            <a:off x="5509316" y="3355204"/>
            <a:ext cx="6521977" cy="333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365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A0D10D-FF57-D1CF-5BEA-D8EFB1DC4A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6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A6FDE6DA-05AA-EDD6-3415-7621C5ABB585}"/>
              </a:ext>
            </a:extLst>
          </p:cNvPr>
          <p:cNvSpPr/>
          <p:nvPr/>
        </p:nvSpPr>
        <p:spPr>
          <a:xfrm>
            <a:off x="2945892" y="278892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83514EB1-D296-D808-2941-4ED31BB4F77D}"/>
              </a:ext>
            </a:extLst>
          </p:cNvPr>
          <p:cNvSpPr/>
          <p:nvPr/>
        </p:nvSpPr>
        <p:spPr>
          <a:xfrm>
            <a:off x="2945892" y="278892"/>
            <a:ext cx="6300216" cy="6300216"/>
          </a:xfrm>
          <a:prstGeom prst="ellipse">
            <a:avLst/>
          </a:prstGeom>
          <a:noFill/>
          <a:ln w="76200">
            <a:solidFill>
              <a:srgbClr val="252738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C8C4DBB1-330E-EAD2-CD24-05B5E00E4A6C}"/>
              </a:ext>
            </a:extLst>
          </p:cNvPr>
          <p:cNvSpPr/>
          <p:nvPr/>
        </p:nvSpPr>
        <p:spPr>
          <a:xfrm>
            <a:off x="2945892" y="278892"/>
            <a:ext cx="6300216" cy="6300216"/>
          </a:xfrm>
          <a:prstGeom prst="ellipse">
            <a:avLst/>
          </a:prstGeom>
          <a:solidFill>
            <a:srgbClr val="252738">
              <a:alpha val="50000"/>
            </a:srgbClr>
          </a:solidFill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8EC91360-5FCE-1962-2820-A283DE1099CD}"/>
              </a:ext>
            </a:extLst>
          </p:cNvPr>
          <p:cNvSpPr/>
          <p:nvPr/>
        </p:nvSpPr>
        <p:spPr>
          <a:xfrm>
            <a:off x="4035171" y="1368171"/>
            <a:ext cx="4121658" cy="4121658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FB1DF90-32B0-23BD-33D2-676D7ABE93DF}"/>
              </a:ext>
            </a:extLst>
          </p:cNvPr>
          <p:cNvSpPr/>
          <p:nvPr/>
        </p:nvSpPr>
        <p:spPr>
          <a:xfrm>
            <a:off x="2945892" y="278892"/>
            <a:ext cx="6300216" cy="6300216"/>
          </a:xfrm>
          <a:prstGeom prst="ellipse">
            <a:avLst/>
          </a:prstGeom>
          <a:noFill/>
          <a:ln w="76200">
            <a:solidFill>
              <a:srgbClr val="2527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D5362E-08A1-46CE-9643-75B467BEF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2799165"/>
            <a:ext cx="6604000" cy="1259669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C884E23-2F2C-3A4B-8540-6B6A6EEEEDC6}"/>
              </a:ext>
            </a:extLst>
          </p:cNvPr>
          <p:cNvSpPr/>
          <p:nvPr/>
        </p:nvSpPr>
        <p:spPr>
          <a:xfrm>
            <a:off x="10981301" y="420624"/>
            <a:ext cx="827881" cy="827881"/>
          </a:xfrm>
          <a:prstGeom prst="roundRect">
            <a:avLst>
              <a:gd name="adj" fmla="val 50000"/>
            </a:avLst>
          </a:prstGeom>
          <a:solidFill>
            <a:srgbClr val="25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FCC40A"/>
                </a:solidFill>
                <a:latin typeface="Montserrat" panose="00000500000000000000" pitchFamily="2" charset="-52"/>
              </a:rPr>
              <a:t>10</a:t>
            </a:r>
            <a:endParaRPr lang="en-US" sz="2800" b="1" dirty="0">
              <a:solidFill>
                <a:srgbClr val="FCC40A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096866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244</Words>
  <Application>Microsoft Office PowerPoint</Application>
  <PresentationFormat>Широкоэкранный</PresentationFormat>
  <Paragraphs>52</Paragraphs>
  <Slides>12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Montserrat</vt:lpstr>
      <vt:lpstr>Тема Office</vt:lpstr>
      <vt:lpstr>Разработка серверной части информационной системы для управления расписанием и посещаемостью в фитнес-центре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Эдем Сулейманов</dc:creator>
  <cp:lastModifiedBy>Эдем Сулейманов</cp:lastModifiedBy>
  <cp:revision>6</cp:revision>
  <dcterms:created xsi:type="dcterms:W3CDTF">2026-03-30T21:19:19Z</dcterms:created>
  <dcterms:modified xsi:type="dcterms:W3CDTF">2026-03-30T22:58:52Z</dcterms:modified>
</cp:coreProperties>
</file>